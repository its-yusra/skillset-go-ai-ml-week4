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69680" y="0"/>
            <a:ext cx="3319272" cy="128016"/>
          </a:xfrm>
          <a:prstGeom prst="rect">
            <a:avLst/>
          </a:prstGeom>
          <a:solidFill>
            <a:srgbClr val="23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128016"/>
            <a:ext cx="1307592" cy="914400"/>
          </a:xfrm>
          <a:prstGeom prst="rect">
            <a:avLst/>
          </a:prstGeom>
          <a:solidFill>
            <a:srgbClr val="23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3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9875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39791"/>
                </a:solidFill>
                <a:latin typeface="Aptos"/>
              </a:rPr>
              <a:t>SKILLSET-GO EDUTECH  |  AI/ML INTERNSHIP</a:t>
            </a:r>
            <a:endParaRPr sz="1500" b="1">
              <a:solidFill>
                <a:srgbClr val="239791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AI Knowledge Assistant</a:t>
            </a:r>
            <a:endParaRPr sz="3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392" y="3090672"/>
            <a:ext cx="96926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0">
                <a:solidFill>
                  <a:srgbClr val="D2E0F0"/>
                </a:solidFill>
                <a:latin typeface="Aptos"/>
              </a:rPr>
              <a:t>Capstone: RAG + LangGraph + LangSmith</a:t>
            </a:r>
            <a:endParaRPr sz="2300" b="0">
              <a:solidFill>
                <a:srgbClr val="D2E0F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4709160"/>
            <a:ext cx="6400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Presented by: Yusra Komal</a:t>
            </a:r>
            <a:endParaRPr sz="1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5193792"/>
            <a:ext cx="7315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BECDE0"/>
                </a:solidFill>
                <a:latin typeface="Aptos"/>
              </a:rPr>
              <a:t>Week 4 — Applied AI | Learn. Build. Prove.</a:t>
            </a:r>
            <a:endParaRPr sz="1400" b="0">
              <a:solidFill>
                <a:srgbClr val="BECDE0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32720" y="6126480"/>
            <a:ext cx="1097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CAPSTONE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82644"/>
                </a:solidFill>
                <a:latin typeface="Aptos"/>
              </a:rPr>
              <a:t>Problem &amp; Project Objectives</a:t>
            </a:r>
            <a:endParaRPr sz="2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31520" cy="54864"/>
          </a:xfrm>
          <a:prstGeom prst="rect">
            <a:avLst/>
          </a:prstGeom>
          <a:solidFill>
            <a:srgbClr val="23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393192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239791"/>
                </a:solidFill>
                <a:latin typeface="Aptos"/>
              </a:rPr>
              <a:t>01 | PURPOSE</a:t>
            </a:r>
            <a:endParaRPr sz="1000" b="1">
              <a:solidFill>
                <a:srgbClr val="23979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06E82"/>
                </a:solidFill>
                <a:latin typeface="Aptos"/>
              </a:rPr>
              <a:t>2</a:t>
            </a:r>
            <a:endParaRPr sz="900" b="0">
              <a:solidFill>
                <a:srgbClr val="606E82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63039"/>
            <a:ext cx="48828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82644"/>
                </a:solidFill>
                <a:latin typeface="Aptos"/>
              </a:rPr>
              <a:t>The problem</a:t>
            </a:r>
            <a:endParaRPr sz="1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1892807"/>
            <a:ext cx="4882896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232D3C"/>
                </a:solidFill>
                <a:latin typeface="Aptos"/>
              </a:rPr>
              <a:t>Finding a specific fact inside long PDF documents can require manual searching. General LLM answers may also include information not supported by the supplied documents.</a:t>
            </a:r>
            <a:endParaRPr sz="1600" b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257800" cy="1828800"/>
          </a:xfrm>
          <a:prstGeom prst="roundRect">
            <a:avLst/>
          </a:prstGeom>
          <a:solidFill>
            <a:srgbClr val="E0F4F1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463039"/>
            <a:ext cx="492861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82644"/>
                </a:solidFill>
                <a:latin typeface="Aptos"/>
              </a:rPr>
              <a:t>The proposed solution</a:t>
            </a:r>
            <a:endParaRPr sz="1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36792" y="1892807"/>
            <a:ext cx="4928616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232D3C"/>
                </a:solidFill>
                <a:latin typeface="Aptos"/>
              </a:rPr>
              <a:t>A focused knowledge assistant retrieves relevant PDF passages and asks a local language model to answer using that retrieved context.</a:t>
            </a:r>
            <a:endParaRPr sz="1600" b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3520440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39791"/>
                </a:solidFill>
                <a:latin typeface="Aptos"/>
              </a:rPr>
              <a:t>OBJECTIVES</a:t>
            </a:r>
            <a:endParaRPr sz="1300" b="1">
              <a:solidFill>
                <a:srgbClr val="239791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3886200"/>
            <a:ext cx="10698480" cy="2011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Process PDF documents and retrieve relevant text chunks.</a:t>
            </a:r>
          </a:p>
          <a:p>
            <a:pPr>
              <a:spcAft>
                <a:spcPts val="13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Coordinate retrieval, generation, validation, and response using LangGraph.</a:t>
            </a:r>
          </a:p>
          <a:p>
            <a:pPr>
              <a:spcAft>
                <a:spcPts val="13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Inspect execution traces and failure cases with LangSmith.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82644"/>
                </a:solidFill>
                <a:latin typeface="Aptos"/>
              </a:rPr>
              <a:t>System Architecture</a:t>
            </a:r>
            <a:endParaRPr sz="2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31520" cy="54864"/>
          </a:xfrm>
          <a:prstGeom prst="rect">
            <a:avLst/>
          </a:prstGeom>
          <a:solidFill>
            <a:srgbClr val="23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393192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239791"/>
                </a:solidFill>
                <a:latin typeface="Aptos"/>
              </a:rPr>
              <a:t>02 | DESIGN</a:t>
            </a:r>
            <a:endParaRPr sz="1000" b="1">
              <a:solidFill>
                <a:srgbClr val="23979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06E82"/>
                </a:solidFill>
                <a:latin typeface="Aptos"/>
              </a:rPr>
              <a:t>3</a:t>
            </a:r>
            <a:endParaRPr sz="900" b="0">
              <a:solidFill>
                <a:srgbClr val="606E82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965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965960"/>
            <a:ext cx="163677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82644"/>
                </a:solidFill>
                <a:latin typeface="Aptos"/>
              </a:rPr>
              <a:t>PDF Documents</a:t>
            </a:r>
            <a:endParaRPr sz="1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512" y="2395728"/>
            <a:ext cx="1636776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documents/ folder</a:t>
            </a:r>
            <a:endParaRPr sz="1200" b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743200" y="1828800"/>
            <a:ext cx="1965960" cy="1234440"/>
          </a:xfrm>
          <a:prstGeom prst="roundRect">
            <a:avLst/>
          </a:prstGeom>
          <a:solidFill>
            <a:srgbClr val="E5EDF9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7792" y="1965960"/>
            <a:ext cx="163677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82644"/>
                </a:solidFill>
                <a:latin typeface="Aptos"/>
              </a:rPr>
              <a:t>Embeddings</a:t>
            </a:r>
            <a:endParaRPr sz="1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07792" y="2395728"/>
            <a:ext cx="1636776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Hugging Face
all-MiniLM-L6-v2</a:t>
            </a:r>
            <a:endParaRPr sz="1200" b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983480" y="1828800"/>
            <a:ext cx="1965960" cy="1234440"/>
          </a:xfrm>
          <a:prstGeom prst="roundRect">
            <a:avLst/>
          </a:prstGeom>
          <a:solidFill>
            <a:srgbClr val="E5EDF9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8072" y="1965960"/>
            <a:ext cx="163677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82644"/>
                </a:solidFill>
                <a:latin typeface="Aptos"/>
              </a:rPr>
              <a:t>FAISS Store</a:t>
            </a:r>
            <a:endParaRPr sz="1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48072" y="2395728"/>
            <a:ext cx="1636776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Local vector index</a:t>
            </a:r>
            <a:endParaRPr sz="1200" b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223760" y="1828800"/>
            <a:ext cx="1965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8352" y="1965960"/>
            <a:ext cx="163677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82644"/>
                </a:solidFill>
                <a:latin typeface="Aptos"/>
              </a:rPr>
              <a:t>Retriever Tool</a:t>
            </a:r>
            <a:endParaRPr sz="1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88352" y="2395728"/>
            <a:ext cx="1636776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Top 4 similar chunks</a:t>
            </a:r>
            <a:endParaRPr sz="1200" b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464040" y="1828800"/>
            <a:ext cx="2194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28632" y="1965960"/>
            <a:ext cx="186537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82644"/>
                </a:solidFill>
                <a:latin typeface="Aptos"/>
              </a:rPr>
              <a:t>Ollama LLM</a:t>
            </a:r>
            <a:endParaRPr sz="1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628632" y="2395728"/>
            <a:ext cx="1865376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Llama 3.2 response</a:t>
            </a:r>
            <a:endParaRPr sz="1200" b="0">
              <a:solidFill>
                <a:srgbClr val="232D3C"/>
              </a:solidFill>
              <a:latin typeface="Aptos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2505456" y="2450592"/>
            <a:ext cx="164592" cy="0"/>
          </a:xfrm>
          <a:prstGeom prst="line">
            <a:avLst/>
          </a:prstGeom>
          <a:ln w="25400">
            <a:solidFill>
              <a:srgbClr val="23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45736" y="2450592"/>
            <a:ext cx="164592" cy="0"/>
          </a:xfrm>
          <a:prstGeom prst="line">
            <a:avLst/>
          </a:prstGeom>
          <a:ln w="25400">
            <a:solidFill>
              <a:srgbClr val="23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986016" y="2450592"/>
            <a:ext cx="164592" cy="0"/>
          </a:xfrm>
          <a:prstGeom prst="line">
            <a:avLst/>
          </a:prstGeom>
          <a:ln w="25400">
            <a:solidFill>
              <a:srgbClr val="23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26296" y="2450592"/>
            <a:ext cx="164592" cy="0"/>
          </a:xfrm>
          <a:prstGeom prst="line">
            <a:avLst/>
          </a:prstGeom>
          <a:ln w="25400">
            <a:solidFill>
              <a:srgbClr val="23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4400" y="3886200"/>
            <a:ext cx="4389120" cy="1234440"/>
          </a:xfrm>
          <a:prstGeom prst="roundRect">
            <a:avLst/>
          </a:prstGeom>
          <a:solidFill>
            <a:srgbClr val="E0F4F1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023360"/>
            <a:ext cx="4059935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82644"/>
                </a:solidFill>
                <a:latin typeface="Aptos"/>
              </a:rPr>
              <a:t>LangGraph</a:t>
            </a:r>
            <a:endParaRPr sz="1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78992" y="4453128"/>
            <a:ext cx="4059935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Retrieve → conditional route → generate → validate → respond</a:t>
            </a:r>
            <a:endParaRPr sz="1500" b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806440" y="3886200"/>
            <a:ext cx="5303520" cy="1234440"/>
          </a:xfrm>
          <a:prstGeom prst="roundRect">
            <a:avLst/>
          </a:prstGeom>
          <a:solidFill>
            <a:srgbClr val="FAF2DA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71031" y="4023360"/>
            <a:ext cx="497433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82644"/>
                </a:solidFill>
                <a:latin typeface="Aptos"/>
              </a:rPr>
              <a:t>LangSmith</a:t>
            </a:r>
            <a:endParaRPr sz="1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71031" y="4453128"/>
            <a:ext cx="4974336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Trace inputs/outputs and inspect available intermediate steps, latency, and failures.</a:t>
            </a:r>
            <a:endParaRPr sz="1500" b="0">
              <a:solidFill>
                <a:srgbClr val="232D3C"/>
              </a:solidFill>
              <a:latin typeface="Aptos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8138160" y="3246120"/>
            <a:ext cx="0" cy="502919"/>
          </a:xfrm>
          <a:prstGeom prst="line">
            <a:avLst/>
          </a:prstGeom>
          <a:ln w="25400">
            <a:solidFill>
              <a:srgbClr val="23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14400" y="5532120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06E82"/>
                </a:solidFill>
                <a:latin typeface="Aptos"/>
              </a:rPr>
              <a:t>The diagram represents the intended integrated flow; the exact behavior must be verified against the running code and traces.</a:t>
            </a:r>
            <a:endParaRPr sz="1200" b="0">
              <a:solidFill>
                <a:srgbClr val="606E8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82644"/>
                </a:solidFill>
                <a:latin typeface="Aptos"/>
              </a:rPr>
              <a:t>LangGraph Multi-Step Workflow</a:t>
            </a:r>
            <a:endParaRPr sz="2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31520" cy="54864"/>
          </a:xfrm>
          <a:prstGeom prst="rect">
            <a:avLst/>
          </a:prstGeom>
          <a:solidFill>
            <a:srgbClr val="23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393192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239791"/>
                </a:solidFill>
                <a:latin typeface="Aptos"/>
              </a:rPr>
              <a:t>03 | WORKFLOW</a:t>
            </a:r>
            <a:endParaRPr sz="1000" b="1">
              <a:solidFill>
                <a:srgbClr val="23979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06E82"/>
                </a:solidFill>
                <a:latin typeface="Aptos"/>
              </a:rPr>
              <a:t>4</a:t>
            </a:r>
            <a:endParaRPr sz="900" b="0">
              <a:solidFill>
                <a:srgbClr val="606E82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920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45919"/>
            <a:ext cx="159105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82644"/>
                </a:solidFill>
                <a:latin typeface="Aptos"/>
              </a:rPr>
              <a:t>START</a:t>
            </a:r>
            <a:endParaRPr sz="1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075688"/>
            <a:ext cx="1591056" cy="182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User question</a:t>
            </a:r>
            <a:endParaRPr sz="1200" b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46120" y="1508760"/>
            <a:ext cx="2011680" cy="868680"/>
          </a:xfrm>
          <a:prstGeom prst="roundRect">
            <a:avLst/>
          </a:prstGeom>
          <a:solidFill>
            <a:srgbClr val="E5EDF9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1645919"/>
            <a:ext cx="16824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82644"/>
                </a:solidFill>
                <a:latin typeface="Aptos"/>
              </a:rPr>
              <a:t>Retrieve</a:t>
            </a:r>
            <a:endParaRPr sz="1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10712" y="2075688"/>
            <a:ext cx="1682496" cy="182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Search FAISS</a:t>
            </a:r>
            <a:endParaRPr sz="1200" b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897880" y="1508760"/>
            <a:ext cx="1965960" cy="868680"/>
          </a:xfrm>
          <a:prstGeom prst="roundRect">
            <a:avLst/>
          </a:prstGeom>
          <a:solidFill>
            <a:srgbClr val="FAF2DA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62472" y="1645919"/>
            <a:ext cx="163677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82644"/>
                </a:solidFill>
                <a:latin typeface="Aptos"/>
              </a:rPr>
              <a:t>Route</a:t>
            </a:r>
            <a:endParaRPr sz="1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62472" y="2075688"/>
            <a:ext cx="1636776" cy="182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Context available?</a:t>
            </a:r>
            <a:endParaRPr sz="1200" b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549640" y="1143000"/>
            <a:ext cx="2514600" cy="914400"/>
          </a:xfrm>
          <a:prstGeom prst="roundRect">
            <a:avLst/>
          </a:prstGeom>
          <a:solidFill>
            <a:srgbClr val="E0F4F1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14232" y="1280160"/>
            <a:ext cx="218541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82644"/>
                </a:solidFill>
                <a:latin typeface="Aptos"/>
              </a:rPr>
              <a:t>Generate</a:t>
            </a:r>
            <a:endParaRPr sz="1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14232" y="1709928"/>
            <a:ext cx="21854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Ollama answer</a:t>
            </a:r>
            <a:endParaRPr sz="1200" b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549640" y="2560320"/>
            <a:ext cx="2514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4232" y="2697479"/>
            <a:ext cx="218541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82644"/>
                </a:solidFill>
                <a:latin typeface="Aptos"/>
              </a:rPr>
              <a:t>Missing</a:t>
            </a:r>
            <a:endParaRPr sz="1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14232" y="3127248"/>
            <a:ext cx="21854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Unavailable message</a:t>
            </a:r>
            <a:endParaRPr sz="1200" b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97880" y="4069080"/>
            <a:ext cx="1965960" cy="914400"/>
          </a:xfrm>
          <a:prstGeom prst="roundRect">
            <a:avLst/>
          </a:prstGeom>
          <a:solidFill>
            <a:srgbClr val="E5EDF9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62472" y="4206240"/>
            <a:ext cx="163677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82644"/>
                </a:solidFill>
                <a:latin typeface="Aptos"/>
              </a:rPr>
              <a:t>Validate</a:t>
            </a:r>
            <a:endParaRPr sz="1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62472" y="4636008"/>
            <a:ext cx="163677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Basic checks</a:t>
            </a:r>
            <a:endParaRPr sz="1200" b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549640" y="4069080"/>
            <a:ext cx="2514600" cy="914400"/>
          </a:xfrm>
          <a:prstGeom prst="roundRect">
            <a:avLst/>
          </a:prstGeom>
          <a:solidFill>
            <a:srgbClr val="E0F4F1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4206240"/>
            <a:ext cx="218541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82644"/>
                </a:solidFill>
                <a:latin typeface="Aptos"/>
              </a:rPr>
              <a:t>Respond / Fallback</a:t>
            </a:r>
            <a:endParaRPr sz="1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14232" y="4636008"/>
            <a:ext cx="21854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Final output</a:t>
            </a:r>
            <a:endParaRPr sz="1200" b="0">
              <a:solidFill>
                <a:srgbClr val="232D3C"/>
              </a:solidFill>
              <a:latin typeface="Aptos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2697480" y="1938528"/>
            <a:ext cx="484632" cy="0"/>
          </a:xfrm>
          <a:prstGeom prst="line">
            <a:avLst/>
          </a:prstGeom>
          <a:ln w="25400">
            <a:solidFill>
              <a:srgbClr val="23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303520" y="1938528"/>
            <a:ext cx="530352" cy="0"/>
          </a:xfrm>
          <a:prstGeom prst="line">
            <a:avLst/>
          </a:prstGeom>
          <a:ln w="25400">
            <a:solidFill>
              <a:srgbClr val="23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909560" y="1600200"/>
            <a:ext cx="576072" cy="182880"/>
          </a:xfrm>
          <a:prstGeom prst="line">
            <a:avLst/>
          </a:prstGeom>
          <a:ln w="25400">
            <a:solidFill>
              <a:srgbClr val="23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909560" y="2148840"/>
            <a:ext cx="576072" cy="731520"/>
          </a:xfrm>
          <a:prstGeom prst="line">
            <a:avLst/>
          </a:prstGeom>
          <a:ln w="25400">
            <a:solidFill>
              <a:srgbClr val="23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802368" y="2103120"/>
            <a:ext cx="0" cy="384048"/>
          </a:xfrm>
          <a:prstGeom prst="line">
            <a:avLst/>
          </a:prstGeom>
          <a:ln w="25400">
            <a:solidFill>
              <a:srgbClr val="23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802368" y="2103120"/>
            <a:ext cx="0" cy="1874519"/>
          </a:xfrm>
          <a:prstGeom prst="line">
            <a:avLst/>
          </a:prstGeom>
          <a:ln w="25400">
            <a:solidFill>
              <a:srgbClr val="23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909560" y="4526280"/>
            <a:ext cx="576072" cy="0"/>
          </a:xfrm>
          <a:prstGeom prst="line">
            <a:avLst/>
          </a:prstGeom>
          <a:ln w="25400">
            <a:solidFill>
              <a:srgbClr val="23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2960" y="5715000"/>
            <a:ext cx="106070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06E82"/>
                </a:solidFill>
                <a:latin typeface="Aptos"/>
              </a:rPr>
              <a:t>Routing is based on whether retrieval returns context; validation currently checks for an empty answer or the configured unavailable message.</a:t>
            </a:r>
            <a:endParaRPr sz="1200" b="0">
              <a:solidFill>
                <a:srgbClr val="606E8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82644"/>
                </a:solidFill>
                <a:latin typeface="Aptos"/>
              </a:rPr>
              <a:t>Implementation &amp; Observability</a:t>
            </a:r>
            <a:endParaRPr sz="2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31520" cy="54864"/>
          </a:xfrm>
          <a:prstGeom prst="rect">
            <a:avLst/>
          </a:prstGeom>
          <a:solidFill>
            <a:srgbClr val="23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393192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239791"/>
                </a:solidFill>
                <a:latin typeface="Aptos"/>
              </a:rPr>
              <a:t>04 | TECHNOLOGY</a:t>
            </a:r>
            <a:endParaRPr sz="1000" b="1">
              <a:solidFill>
                <a:srgbClr val="23979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06E82"/>
                </a:solidFill>
                <a:latin typeface="Aptos"/>
              </a:rPr>
              <a:t>5</a:t>
            </a:r>
            <a:endParaRPr sz="900" b="0">
              <a:solidFill>
                <a:srgbClr val="606E82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08760"/>
            <a:ext cx="314553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82644"/>
                </a:solidFill>
                <a:latin typeface="Aptos"/>
              </a:rPr>
              <a:t>RAG pipeline</a:t>
            </a:r>
            <a:endParaRPr sz="1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1938528"/>
            <a:ext cx="3145536" cy="2880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• PyPDFLoader loads PDFs
• RecursiveCharacterTextSplitter creates chunks
• Hugging Face creates embeddings
• FAISS similarity search retrieves up to four chunks
• Ollama / Llama 3.2 generates a context-based answer</a:t>
            </a:r>
            <a:endParaRPr sz="1500" b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74720" cy="3566160"/>
          </a:xfrm>
          <a:prstGeom prst="roundRect">
            <a:avLst/>
          </a:prstGeom>
          <a:solidFill>
            <a:srgbClr val="E0F4F1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508760"/>
            <a:ext cx="314553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82644"/>
                </a:solidFill>
                <a:latin typeface="Aptos"/>
              </a:rPr>
              <a:t>LangGraph workflow</a:t>
            </a:r>
            <a:endParaRPr sz="1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53712" y="1938528"/>
            <a:ext cx="3145536" cy="2880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• Shared state carries question, context, answer, and status
• Retrieval tool searches the knowledge base
• Conditional routing handles missing context
• Validation performs basic output checks
• Fallback path handles empty answers</a:t>
            </a:r>
            <a:endParaRPr sz="1500" b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429000" cy="3566160"/>
          </a:xfrm>
          <a:prstGeom prst="roundRect">
            <a:avLst/>
          </a:prstGeom>
          <a:solidFill>
            <a:srgbClr val="FAF2DA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508760"/>
            <a:ext cx="309981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82644"/>
                </a:solidFill>
                <a:latin typeface="Aptos"/>
              </a:rPr>
              <a:t>LangSmith monitoring</a:t>
            </a:r>
            <a:endParaRPr sz="1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11312" y="1938528"/>
            <a:ext cx="3099816" cy="2880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• Trace runs for the capstone entry point
• Inspect inputs and outputs
• Review intermediate steps when available
• Record latency with test context
• Investigate errors and distinguish retrieval vs generation issues when evidence allows</a:t>
            </a:r>
            <a:endParaRPr sz="1400" b="0">
              <a:solidFill>
                <a:srgbClr val="232D3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82644"/>
                </a:solidFill>
                <a:latin typeface="Aptos"/>
              </a:rPr>
              <a:t>Testing &amp; Evaluation</a:t>
            </a:r>
            <a:endParaRPr sz="2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31520" cy="54864"/>
          </a:xfrm>
          <a:prstGeom prst="rect">
            <a:avLst/>
          </a:prstGeom>
          <a:solidFill>
            <a:srgbClr val="23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393192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239791"/>
                </a:solidFill>
                <a:latin typeface="Aptos"/>
              </a:rPr>
              <a:t>05 | VALIDATION</a:t>
            </a:r>
            <a:endParaRPr sz="1000" b="1">
              <a:solidFill>
                <a:srgbClr val="23979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06E82"/>
                </a:solidFill>
                <a:latin typeface="Aptos"/>
              </a:rPr>
              <a:t>6</a:t>
            </a:r>
            <a:endParaRPr sz="900" b="0">
              <a:solidFill>
                <a:srgbClr val="606E82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2377440" cy="502920"/>
          </a:xfrm>
          <a:prstGeom prst="rect">
            <a:avLst/>
          </a:prstGeom>
          <a:solidFill>
            <a:srgbClr val="1826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Test case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63240" y="1417320"/>
            <a:ext cx="4663440" cy="502920"/>
          </a:xfrm>
          <a:prstGeom prst="rect">
            <a:avLst/>
          </a:prstGeom>
          <a:solidFill>
            <a:srgbClr val="1826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490472"/>
            <a:ext cx="448055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Expected behaviour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3657600" cy="502920"/>
          </a:xfrm>
          <a:prstGeom prst="rect">
            <a:avLst/>
          </a:prstGeom>
          <a:solidFill>
            <a:srgbClr val="1826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19" y="1490472"/>
            <a:ext cx="3474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Observed result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" y="1920240"/>
            <a:ext cx="23774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29968"/>
            <a:ext cx="21945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32D3C"/>
                </a:solidFill>
                <a:latin typeface="Aptos"/>
              </a:rPr>
              <a:t>Normal question</a:t>
            </a:r>
            <a:endParaRPr sz="1200" b="1">
              <a:solidFill>
                <a:srgbClr val="232D3C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063240" y="1920240"/>
            <a:ext cx="46634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2029968"/>
            <a:ext cx="4480559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Relevant answer from source documents</a:t>
            </a:r>
            <a:endParaRPr sz="1200" b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26679" y="1920240"/>
            <a:ext cx="36576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19" y="2029968"/>
            <a:ext cx="3474720" cy="27559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[</a:t>
            </a:r>
            <a:r>
              <a:rPr lang="en-US" sz="1200" b="0">
                <a:solidFill>
                  <a:srgbClr val="232D3C"/>
                </a:solidFill>
                <a:latin typeface="Aptos"/>
              </a:rPr>
              <a:t>Passed</a:t>
            </a:r>
            <a:r>
              <a:rPr sz="1200" b="0">
                <a:solidFill>
                  <a:srgbClr val="232D3C"/>
                </a:solidFill>
                <a:latin typeface="Aptos"/>
              </a:rPr>
              <a:t>]</a:t>
            </a:r>
            <a:endParaRPr sz="1200" b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85800" y="2697480"/>
            <a:ext cx="2377440" cy="777240"/>
          </a:xfrm>
          <a:prstGeom prst="rect">
            <a:avLst/>
          </a:prstGeom>
          <a:solidFill>
            <a:srgbClr val="EEF2F7"/>
          </a:solidFill>
          <a:ln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807208"/>
            <a:ext cx="21945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32D3C"/>
                </a:solidFill>
                <a:latin typeface="Aptos"/>
              </a:rPr>
              <a:t>Multi-part question</a:t>
            </a:r>
            <a:endParaRPr sz="1200" b="1">
              <a:solidFill>
                <a:srgbClr val="232D3C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63240" y="2697480"/>
            <a:ext cx="4663440" cy="777240"/>
          </a:xfrm>
          <a:prstGeom prst="rect">
            <a:avLst/>
          </a:prstGeom>
          <a:solidFill>
            <a:srgbClr val="EEF2F7"/>
          </a:solidFill>
          <a:ln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2807208"/>
            <a:ext cx="4480559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Each requested part addressed</a:t>
            </a:r>
            <a:endParaRPr sz="1200" b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726679" y="2697480"/>
            <a:ext cx="3657600" cy="777240"/>
          </a:xfrm>
          <a:prstGeom prst="rect">
            <a:avLst/>
          </a:prstGeom>
          <a:solidFill>
            <a:srgbClr val="EEF2F7"/>
          </a:solidFill>
          <a:ln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19" y="2807208"/>
            <a:ext cx="3474720" cy="27559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[</a:t>
            </a:r>
            <a:r>
              <a:rPr lang="en-US" sz="1200" b="0">
                <a:solidFill>
                  <a:srgbClr val="232D3C"/>
                </a:solidFill>
                <a:latin typeface="Aptos"/>
              </a:rPr>
              <a:t>Passed</a:t>
            </a:r>
            <a:r>
              <a:rPr sz="1200" b="0">
                <a:solidFill>
                  <a:srgbClr val="232D3C"/>
                </a:solidFill>
                <a:latin typeface="Aptos"/>
              </a:rPr>
              <a:t>]</a:t>
            </a:r>
            <a:endParaRPr sz="1200" b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85800" y="3474720"/>
            <a:ext cx="23774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584448"/>
            <a:ext cx="21945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32D3C"/>
                </a:solidFill>
                <a:latin typeface="Aptos"/>
              </a:rPr>
              <a:t>Missing information</a:t>
            </a:r>
            <a:endParaRPr sz="1200" b="1">
              <a:solidFill>
                <a:srgbClr val="232D3C"/>
              </a:solidFill>
              <a:latin typeface="Apto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063240" y="3474720"/>
            <a:ext cx="46634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54680" y="3584448"/>
            <a:ext cx="4480559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Unavailable message when context is absent</a:t>
            </a:r>
            <a:endParaRPr sz="1200" b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726679" y="3474720"/>
            <a:ext cx="36576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19" y="3584448"/>
            <a:ext cx="3474720" cy="27559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[</a:t>
            </a:r>
            <a:r>
              <a:rPr lang="en-US" sz="1200" b="0">
                <a:solidFill>
                  <a:srgbClr val="232D3C"/>
                </a:solidFill>
                <a:latin typeface="Aptos"/>
              </a:rPr>
              <a:t>Passed</a:t>
            </a:r>
            <a:r>
              <a:rPr sz="1200" b="0">
                <a:solidFill>
                  <a:srgbClr val="232D3C"/>
                </a:solidFill>
                <a:latin typeface="Aptos"/>
              </a:rPr>
              <a:t>]</a:t>
            </a:r>
            <a:endParaRPr sz="1200" b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85800" y="4251960"/>
            <a:ext cx="2377440" cy="777240"/>
          </a:xfrm>
          <a:prstGeom prst="rect">
            <a:avLst/>
          </a:prstGeom>
          <a:solidFill>
            <a:srgbClr val="EEF2F7"/>
          </a:solidFill>
          <a:ln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361688"/>
            <a:ext cx="21945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32D3C"/>
                </a:solidFill>
                <a:latin typeface="Aptos"/>
              </a:rPr>
              <a:t>Runtime failure</a:t>
            </a:r>
            <a:endParaRPr sz="1200" b="1">
              <a:solidFill>
                <a:srgbClr val="232D3C"/>
              </a:solidFill>
              <a:latin typeface="Apto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63240" y="4251960"/>
            <a:ext cx="4663440" cy="777240"/>
          </a:xfrm>
          <a:prstGeom prst="rect">
            <a:avLst/>
          </a:prstGeom>
          <a:solidFill>
            <a:srgbClr val="EEF2F7"/>
          </a:solidFill>
          <a:ln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54680" y="4361688"/>
            <a:ext cx="4480559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Error captured and failure investigated</a:t>
            </a:r>
            <a:endParaRPr sz="1200" b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726679" y="4251960"/>
            <a:ext cx="3657600" cy="777240"/>
          </a:xfrm>
          <a:prstGeom prst="rect">
            <a:avLst/>
          </a:prstGeom>
          <a:solidFill>
            <a:srgbClr val="EEF2F7"/>
          </a:solidFill>
          <a:ln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18119" y="4361688"/>
            <a:ext cx="3474720" cy="27559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[</a:t>
            </a:r>
            <a:r>
              <a:rPr lang="en-US" sz="1200" b="0">
                <a:solidFill>
                  <a:srgbClr val="232D3C"/>
                </a:solidFill>
                <a:latin typeface="Aptos"/>
              </a:rPr>
              <a:t>Passed</a:t>
            </a:r>
            <a:r>
              <a:rPr sz="1200" b="0">
                <a:solidFill>
                  <a:srgbClr val="232D3C"/>
                </a:solidFill>
                <a:latin typeface="Aptos"/>
              </a:rPr>
              <a:t>]</a:t>
            </a:r>
            <a:endParaRPr sz="1200" b="0">
              <a:solidFill>
                <a:srgbClr val="232D3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82644"/>
                </a:solidFill>
                <a:latin typeface="Aptos"/>
              </a:rPr>
              <a:t>Limitations &amp; Conclusion</a:t>
            </a:r>
            <a:endParaRPr sz="2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31520" cy="54864"/>
          </a:xfrm>
          <a:prstGeom prst="rect">
            <a:avLst/>
          </a:prstGeom>
          <a:solidFill>
            <a:srgbClr val="23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393192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239791"/>
                </a:solidFill>
                <a:latin typeface="Aptos"/>
              </a:rPr>
              <a:t>06 | WRAP-UP</a:t>
            </a:r>
            <a:endParaRPr sz="1000" b="1">
              <a:solidFill>
                <a:srgbClr val="23979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06E82"/>
                </a:solidFill>
                <a:latin typeface="Aptos"/>
              </a:rPr>
              <a:t>7</a:t>
            </a:r>
            <a:endParaRPr sz="900" b="0">
              <a:solidFill>
                <a:srgbClr val="606E82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08760"/>
            <a:ext cx="48828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82644"/>
                </a:solidFill>
                <a:latin typeface="Aptos"/>
              </a:rPr>
              <a:t>Current limitations</a:t>
            </a:r>
            <a:endParaRPr sz="1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1938528"/>
            <a:ext cx="4882896" cy="2606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232D3C"/>
                </a:solidFill>
                <a:latin typeface="Aptos"/>
              </a:rPr>
              <a:t>• Retrieval can miss relevant information.
• Basic validation is not full factual verification.
• Model and vector store must be available locally.
• A local terminal demo is not a hosted public deployment.</a:t>
            </a:r>
            <a:endParaRPr sz="1600" b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3291840"/>
          </a:xfrm>
          <a:prstGeom prst="roundRect">
            <a:avLst/>
          </a:prstGeom>
          <a:solidFill>
            <a:srgbClr val="E0F4F1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508760"/>
            <a:ext cx="48828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82644"/>
                </a:solidFill>
                <a:latin typeface="Aptos"/>
              </a:rPr>
              <a:t>Conclusion</a:t>
            </a:r>
            <a:endParaRPr sz="1600" b="1">
              <a:solidFill>
                <a:srgbClr val="18264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82512" y="1938528"/>
            <a:ext cx="4882896" cy="2606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232D3C"/>
                </a:solidFill>
                <a:latin typeface="Aptos"/>
              </a:rPr>
              <a:t>The capstone combines document retrieval, local LLM generation, explicit workflow routing, and tracing. Its quality should be reported based on test outcomes, retrieved evidence, and observed traces—not assumptions.</a:t>
            </a:r>
            <a:endParaRPr sz="1600" b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589788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239791"/>
                </a:solidFill>
                <a:latin typeface="Aptos"/>
              </a:rPr>
              <a:t>Thank you</a:t>
            </a:r>
            <a:endParaRPr sz="2000" b="1">
              <a:solidFill>
                <a:srgbClr val="239791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3183</Words>
  <Application>WPS Presentation</Application>
  <PresentationFormat>On-screen Show (4:3)</PresentationFormat>
  <Paragraphs>174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White Eye</cp:lastModifiedBy>
  <cp:revision>2</cp:revision>
  <dcterms:created xsi:type="dcterms:W3CDTF">2013-01-27T09:14:00Z</dcterms:created>
  <dcterms:modified xsi:type="dcterms:W3CDTF">2026-10-10T19:01:38Z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C8A35A0BD8D846F7B82195100FF50FD4_12</vt:lpwstr>
  </property>
  <property fmtid="{D5CDD505-2E9C-101B-9397-08002B2CF9AE}" pid="3" name="KSOProductBuildVer">
    <vt:lpwstr>1033-12.1.0.28485</vt:lpwstr>
  </property>
</Properties>
</file>